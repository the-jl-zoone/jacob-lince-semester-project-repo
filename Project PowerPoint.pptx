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5"/>
  </p:notesMasterIdLst>
  <p:handoutMasterIdLst>
    <p:handoutMasterId r:id="rId16"/>
  </p:handoutMasterIdLst>
  <p:sldIdLst>
    <p:sldId id="437" r:id="rId5"/>
    <p:sldId id="438" r:id="rId6"/>
    <p:sldId id="439" r:id="rId7"/>
    <p:sldId id="440" r:id="rId8"/>
    <p:sldId id="441" r:id="rId9"/>
    <p:sldId id="442" r:id="rId10"/>
    <p:sldId id="443" r:id="rId11"/>
    <p:sldId id="444" r:id="rId12"/>
    <p:sldId id="445" r:id="rId13"/>
    <p:sldId id="44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66BF0403-5CEC-4C3E-A67F-B1FBC1712DE0}">
          <p14:sldIdLst>
            <p14:sldId id="437"/>
            <p14:sldId id="438"/>
            <p14:sldId id="439"/>
            <p14:sldId id="440"/>
            <p14:sldId id="441"/>
            <p14:sldId id="442"/>
            <p14:sldId id="443"/>
            <p14:sldId id="444"/>
            <p14:sldId id="445"/>
            <p14:sldId id="44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187"/>
    <a:srgbClr val="0C4046"/>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94" autoAdjust="0"/>
  </p:normalViewPr>
  <p:slideViewPr>
    <p:cSldViewPr snapToGrid="0">
      <p:cViewPr varScale="1">
        <p:scale>
          <a:sx n="102" d="100"/>
          <a:sy n="102" d="100"/>
        </p:scale>
        <p:origin x="870" y="84"/>
      </p:cViewPr>
      <p:guideLst/>
    </p:cSldViewPr>
  </p:slideViewPr>
  <p:outlineViewPr>
    <p:cViewPr>
      <p:scale>
        <a:sx n="33" d="100"/>
        <a:sy n="33" d="100"/>
      </p:scale>
      <p:origin x="0" y="-17146"/>
    </p:cViewPr>
  </p:outlineViewPr>
  <p:notesTextViewPr>
    <p:cViewPr>
      <p:scale>
        <a:sx n="1" d="1"/>
        <a:sy n="1" d="1"/>
      </p:scale>
      <p:origin x="0" y="0"/>
    </p:cViewPr>
  </p:notesTextViewPr>
  <p:sorterViewPr>
    <p:cViewPr varScale="1">
      <p:scale>
        <a:sx n="1" d="1"/>
        <a:sy n="1" d="1"/>
      </p:scale>
      <p:origin x="0" y="-871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4D2272-D660-A337-AEF3-BE066BD545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1FE5A70-71C2-F335-270C-B94537340C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C5A369-CA0E-4FC6-90EE-5FA969A08EF8}" type="datetimeFigureOut">
              <a:rPr lang="en-US" smtClean="0"/>
              <a:t>12/14/2025</a:t>
            </a:fld>
            <a:endParaRPr lang="en-US" dirty="0"/>
          </a:p>
        </p:txBody>
      </p:sp>
      <p:sp>
        <p:nvSpPr>
          <p:cNvPr id="4" name="Footer Placeholder 3">
            <a:extLst>
              <a:ext uri="{FF2B5EF4-FFF2-40B4-BE49-F238E27FC236}">
                <a16:creationId xmlns:a16="http://schemas.microsoft.com/office/drawing/2014/main" id="{D91E1B03-0F86-16E7-11BE-81F9F4CD66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C4524B8-3914-99B2-2620-0F2A88D335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9210F9-8331-407C-A034-F95DCB303EBC}" type="slidenum">
              <a:rPr lang="en-US" smtClean="0"/>
              <a:t>‹#›</a:t>
            </a:fld>
            <a:endParaRPr lang="en-US" dirty="0"/>
          </a:p>
        </p:txBody>
      </p:sp>
    </p:spTree>
    <p:extLst>
      <p:ext uri="{BB962C8B-B14F-4D97-AF65-F5344CB8AC3E}">
        <p14:creationId xmlns:p14="http://schemas.microsoft.com/office/powerpoint/2010/main" val="9310058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AB06A-EEDC-421C-B5A0-5E9E5241A8E5}" type="datetimeFigureOut">
              <a:rPr lang="en-US" smtClean="0"/>
              <a:t>12/14/2025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F9438-3EEF-4192-9815-F6F44770AEF7}" type="slidenum">
              <a:rPr lang="en-US" smtClean="0"/>
              <a:t>‹#›</a:t>
            </a:fld>
            <a:endParaRPr lang="en-US" dirty="0"/>
          </a:p>
        </p:txBody>
      </p:sp>
    </p:spTree>
    <p:extLst>
      <p:ext uri="{BB962C8B-B14F-4D97-AF65-F5344CB8AC3E}">
        <p14:creationId xmlns:p14="http://schemas.microsoft.com/office/powerpoint/2010/main" val="2652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endParaRPr lang="en-US" dirty="0"/>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0223638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sz="1000"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82093947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4218702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6229050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sz="1000" dirty="0"/>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3421097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sz="1000" dirty="0"/>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90897710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sz="1000" dirty="0"/>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3942744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1473924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60365268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74985615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03611012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sz="1000" dirty="0"/>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3053643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hf hdr="0" ftr="0" dt="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74B91-E0AA-BA26-6967-1B22B1D39BF4}"/>
              </a:ext>
            </a:extLst>
          </p:cNvPr>
          <p:cNvSpPr>
            <a:spLocks noGrp="1"/>
          </p:cNvSpPr>
          <p:nvPr>
            <p:ph type="ctrTitle"/>
          </p:nvPr>
        </p:nvSpPr>
        <p:spPr/>
        <p:txBody>
          <a:bodyPr/>
          <a:lstStyle/>
          <a:p>
            <a:r>
              <a:rPr lang="en-US" dirty="0"/>
              <a:t>LLM’s and Comparing Model’s</a:t>
            </a:r>
          </a:p>
        </p:txBody>
      </p:sp>
      <p:sp>
        <p:nvSpPr>
          <p:cNvPr id="3" name="Subtitle 2">
            <a:extLst>
              <a:ext uri="{FF2B5EF4-FFF2-40B4-BE49-F238E27FC236}">
                <a16:creationId xmlns:a16="http://schemas.microsoft.com/office/drawing/2014/main" id="{4C69C1A1-9F0C-0440-B956-4F4D4BF52959}"/>
              </a:ext>
            </a:extLst>
          </p:cNvPr>
          <p:cNvSpPr>
            <a:spLocks noGrp="1"/>
          </p:cNvSpPr>
          <p:nvPr>
            <p:ph type="subTitle" idx="1"/>
          </p:nvPr>
        </p:nvSpPr>
        <p:spPr/>
        <p:txBody>
          <a:bodyPr/>
          <a:lstStyle/>
          <a:p>
            <a:r>
              <a:rPr lang="en-US" dirty="0"/>
              <a:t>Presentation by Jacob Lince</a:t>
            </a:r>
          </a:p>
        </p:txBody>
      </p:sp>
      <p:sp>
        <p:nvSpPr>
          <p:cNvPr id="4" name="Slide Number Placeholder 3">
            <a:extLst>
              <a:ext uri="{FF2B5EF4-FFF2-40B4-BE49-F238E27FC236}">
                <a16:creationId xmlns:a16="http://schemas.microsoft.com/office/drawing/2014/main" id="{0EFFFFAB-EAE9-E5EC-AFC7-BEFE508DA91F}"/>
              </a:ext>
            </a:extLst>
          </p:cNvPr>
          <p:cNvSpPr>
            <a:spLocks noGrp="1"/>
          </p:cNvSpPr>
          <p:nvPr>
            <p:ph type="sldNum" sz="quarter" idx="12"/>
          </p:nvPr>
        </p:nvSpPr>
        <p:spPr/>
        <p:txBody>
          <a:bodyPr/>
          <a:lstStyle/>
          <a:p>
            <a:fld id="{08AB70BE-1769-45B8-85A6-0C837432C7E6}" type="slidenum">
              <a:rPr lang="en-US" smtClean="0"/>
              <a:pPr/>
              <a:t>1</a:t>
            </a:fld>
            <a:endParaRPr lang="en-US" dirty="0"/>
          </a:p>
        </p:txBody>
      </p:sp>
    </p:spTree>
    <p:extLst>
      <p:ext uri="{BB962C8B-B14F-4D97-AF65-F5344CB8AC3E}">
        <p14:creationId xmlns:p14="http://schemas.microsoft.com/office/powerpoint/2010/main" val="2042793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D545C-AE2F-3D39-0320-BB4EACA6EBDE}"/>
              </a:ext>
            </a:extLst>
          </p:cNvPr>
          <p:cNvSpPr>
            <a:spLocks noGrp="1"/>
          </p:cNvSpPr>
          <p:nvPr>
            <p:ph type="title"/>
          </p:nvPr>
        </p:nvSpPr>
        <p:spPr>
          <a:xfrm>
            <a:off x="1524000" y="246145"/>
            <a:ext cx="9144000" cy="1412974"/>
          </a:xfrm>
        </p:spPr>
        <p:txBody>
          <a:bodyPr>
            <a:normAutofit fontScale="90000"/>
          </a:bodyPr>
          <a:lstStyle/>
          <a:p>
            <a:r>
              <a:rPr lang="en-US" dirty="0"/>
              <a:t>What is a Large Language Model?</a:t>
            </a:r>
          </a:p>
        </p:txBody>
      </p:sp>
      <p:sp>
        <p:nvSpPr>
          <p:cNvPr id="3" name="Text Placeholder 2">
            <a:extLst>
              <a:ext uri="{FF2B5EF4-FFF2-40B4-BE49-F238E27FC236}">
                <a16:creationId xmlns:a16="http://schemas.microsoft.com/office/drawing/2014/main" id="{22F15452-6A46-E32F-9755-B0AF9433FE86}"/>
              </a:ext>
            </a:extLst>
          </p:cNvPr>
          <p:cNvSpPr>
            <a:spLocks noGrp="1"/>
          </p:cNvSpPr>
          <p:nvPr>
            <p:ph type="body" idx="1"/>
          </p:nvPr>
        </p:nvSpPr>
        <p:spPr>
          <a:xfrm>
            <a:off x="1523999" y="1781666"/>
            <a:ext cx="9144001" cy="4279703"/>
          </a:xfrm>
        </p:spPr>
        <p:txBody>
          <a:bodyPr>
            <a:normAutofit/>
          </a:bodyPr>
          <a:lstStyle/>
          <a:p>
            <a:pPr marL="285750" indent="-285750">
              <a:buFont typeface="Arial" panose="020B0604020202020204" pitchFamily="34" charset="0"/>
              <a:buChar char="•"/>
            </a:pPr>
            <a:r>
              <a:rPr lang="en-US" sz="1800" dirty="0"/>
              <a:t>A large language model is a function that tries to predict the next outcome in a sentence and fill in the blank</a:t>
            </a:r>
          </a:p>
          <a:p>
            <a:pPr marL="285750" indent="-285750">
              <a:buFont typeface="Arial" panose="020B0604020202020204" pitchFamily="34" charset="0"/>
              <a:buChar char="•"/>
            </a:pPr>
            <a:r>
              <a:rPr lang="en-US" sz="1800" dirty="0"/>
              <a:t>An LLM relies on a specific kind of network called a transformer. This system uses pretrained weights that tell the probability of how to finish a sentence.</a:t>
            </a:r>
          </a:p>
          <a:p>
            <a:pPr marL="285750" indent="-285750">
              <a:buFont typeface="Arial" panose="020B0604020202020204" pitchFamily="34" charset="0"/>
              <a:buChar char="•"/>
            </a:pPr>
            <a:r>
              <a:rPr lang="en-US" sz="1800" dirty="0"/>
              <a:t>These weight’s are based on continuous numerical values that are trained over many cycles</a:t>
            </a:r>
          </a:p>
          <a:p>
            <a:pPr marL="285750" indent="-285750">
              <a:buFont typeface="Arial" panose="020B0604020202020204" pitchFamily="34" charset="0"/>
              <a:buChar char="•"/>
            </a:pPr>
            <a:r>
              <a:rPr lang="en-US" sz="1800" dirty="0"/>
              <a:t>GPT stands for Generative Pre-trained transformer.</a:t>
            </a:r>
          </a:p>
        </p:txBody>
      </p:sp>
      <p:sp>
        <p:nvSpPr>
          <p:cNvPr id="4" name="Slide Number Placeholder 3">
            <a:extLst>
              <a:ext uri="{FF2B5EF4-FFF2-40B4-BE49-F238E27FC236}">
                <a16:creationId xmlns:a16="http://schemas.microsoft.com/office/drawing/2014/main" id="{587B641E-0247-5486-1E68-C7FEFE157726}"/>
              </a:ext>
            </a:extLst>
          </p:cNvPr>
          <p:cNvSpPr>
            <a:spLocks noGrp="1"/>
          </p:cNvSpPr>
          <p:nvPr>
            <p:ph type="sldNum" sz="quarter" idx="12"/>
          </p:nvPr>
        </p:nvSpPr>
        <p:spPr/>
        <p:txBody>
          <a:bodyPr/>
          <a:lstStyle/>
          <a:p>
            <a:fld id="{08AB70BE-1769-45B8-85A6-0C837432C7E6}" type="slidenum">
              <a:rPr lang="en-US" smtClean="0"/>
              <a:pPr/>
              <a:t>2</a:t>
            </a:fld>
            <a:endParaRPr lang="en-US" dirty="0"/>
          </a:p>
        </p:txBody>
      </p:sp>
    </p:spTree>
    <p:extLst>
      <p:ext uri="{BB962C8B-B14F-4D97-AF65-F5344CB8AC3E}">
        <p14:creationId xmlns:p14="http://schemas.microsoft.com/office/powerpoint/2010/main" val="2685126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DE85-E511-F1AA-599F-189A54B46E5E}"/>
              </a:ext>
            </a:extLst>
          </p:cNvPr>
          <p:cNvSpPr>
            <a:spLocks noGrp="1"/>
          </p:cNvSpPr>
          <p:nvPr>
            <p:ph type="title"/>
          </p:nvPr>
        </p:nvSpPr>
        <p:spPr/>
        <p:txBody>
          <a:bodyPr/>
          <a:lstStyle/>
          <a:p>
            <a:r>
              <a:rPr lang="en-US" dirty="0"/>
              <a:t>Contents of an LLM</a:t>
            </a:r>
          </a:p>
        </p:txBody>
      </p:sp>
      <p:sp>
        <p:nvSpPr>
          <p:cNvPr id="3" name="Content Placeholder 2">
            <a:extLst>
              <a:ext uri="{FF2B5EF4-FFF2-40B4-BE49-F238E27FC236}">
                <a16:creationId xmlns:a16="http://schemas.microsoft.com/office/drawing/2014/main" id="{E593DAB2-146F-4AB1-62FF-0498F9BACF26}"/>
              </a:ext>
            </a:extLst>
          </p:cNvPr>
          <p:cNvSpPr>
            <a:spLocks noGrp="1"/>
          </p:cNvSpPr>
          <p:nvPr>
            <p:ph idx="1"/>
          </p:nvPr>
        </p:nvSpPr>
        <p:spPr/>
        <p:txBody>
          <a:bodyPr/>
          <a:lstStyle/>
          <a:p>
            <a:r>
              <a:rPr lang="en-US" dirty="0"/>
              <a:t>An LLM usually consists of two file types:</a:t>
            </a:r>
          </a:p>
          <a:p>
            <a:pPr lvl="1"/>
            <a:r>
              <a:rPr lang="en-US" dirty="0"/>
              <a:t>Parameters file that holds all the weight values. These values are stored as sets of two bytes of data.</a:t>
            </a:r>
          </a:p>
          <a:p>
            <a:pPr lvl="1"/>
            <a:r>
              <a:rPr lang="en-US" dirty="0"/>
              <a:t>A rom file that is written to interpret the weights given to it by the parameters file. The rom file is simpler to write in C but can be written in any programming language.</a:t>
            </a:r>
          </a:p>
          <a:p>
            <a:pPr marL="227013" lvl="1" indent="-227013"/>
            <a:r>
              <a:rPr lang="en-US" dirty="0"/>
              <a:t>The parameters come from training the model on large chunks of internet data. All of this data is process through specialized GPU setups that can run in parallel to make running the model more efficient</a:t>
            </a:r>
          </a:p>
          <a:p>
            <a:pPr marL="227013" lvl="1" indent="-227013"/>
            <a:r>
              <a:rPr lang="en-US" dirty="0"/>
              <a:t>I has a sort of lossy </a:t>
            </a:r>
            <a:r>
              <a:rPr lang="en-US" dirty="0" err="1"/>
              <a:t>compresion</a:t>
            </a:r>
            <a:r>
              <a:rPr lang="en-US" dirty="0"/>
              <a:t> output.</a:t>
            </a:r>
          </a:p>
        </p:txBody>
      </p:sp>
      <p:sp>
        <p:nvSpPr>
          <p:cNvPr id="4" name="Slide Number Placeholder 3">
            <a:extLst>
              <a:ext uri="{FF2B5EF4-FFF2-40B4-BE49-F238E27FC236}">
                <a16:creationId xmlns:a16="http://schemas.microsoft.com/office/drawing/2014/main" id="{B2542B64-D745-B1D8-CBCE-3E1EB2ACA3FE}"/>
              </a:ext>
            </a:extLst>
          </p:cNvPr>
          <p:cNvSpPr>
            <a:spLocks noGrp="1"/>
          </p:cNvSpPr>
          <p:nvPr>
            <p:ph type="sldNum" sz="quarter" idx="12"/>
          </p:nvPr>
        </p:nvSpPr>
        <p:spPr/>
        <p:txBody>
          <a:bodyPr/>
          <a:lstStyle/>
          <a:p>
            <a:fld id="{08AB70BE-1769-45B8-85A6-0C837432C7E6}" type="slidenum">
              <a:rPr lang="en-US" smtClean="0"/>
              <a:pPr/>
              <a:t>3</a:t>
            </a:fld>
            <a:endParaRPr lang="en-US" dirty="0"/>
          </a:p>
        </p:txBody>
      </p:sp>
    </p:spTree>
    <p:extLst>
      <p:ext uri="{BB962C8B-B14F-4D97-AF65-F5344CB8AC3E}">
        <p14:creationId xmlns:p14="http://schemas.microsoft.com/office/powerpoint/2010/main" val="348370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8747F-9329-EC2F-D460-B9A6D96E4B76}"/>
              </a:ext>
            </a:extLst>
          </p:cNvPr>
          <p:cNvSpPr>
            <a:spLocks noGrp="1"/>
          </p:cNvSpPr>
          <p:nvPr>
            <p:ph type="title"/>
          </p:nvPr>
        </p:nvSpPr>
        <p:spPr/>
        <p:txBody>
          <a:bodyPr/>
          <a:lstStyle/>
          <a:p>
            <a:r>
              <a:rPr lang="en-US" dirty="0"/>
              <a:t>Outputs</a:t>
            </a:r>
          </a:p>
        </p:txBody>
      </p:sp>
      <p:sp>
        <p:nvSpPr>
          <p:cNvPr id="3" name="Content Placeholder 2">
            <a:extLst>
              <a:ext uri="{FF2B5EF4-FFF2-40B4-BE49-F238E27FC236}">
                <a16:creationId xmlns:a16="http://schemas.microsoft.com/office/drawing/2014/main" id="{8F249492-D0E0-D05B-4434-6781C3DF61ED}"/>
              </a:ext>
            </a:extLst>
          </p:cNvPr>
          <p:cNvSpPr>
            <a:spLocks noGrp="1"/>
          </p:cNvSpPr>
          <p:nvPr>
            <p:ph idx="1"/>
          </p:nvPr>
        </p:nvSpPr>
        <p:spPr/>
        <p:txBody>
          <a:bodyPr/>
          <a:lstStyle/>
          <a:p>
            <a:r>
              <a:rPr lang="en-US" dirty="0"/>
              <a:t>The point of an LLM s to predict the next word in a sequence based on what it has learned. This may result in a sort of “dream” output that may vary in its reliability.</a:t>
            </a:r>
          </a:p>
          <a:p>
            <a:r>
              <a:rPr lang="en-US" dirty="0"/>
              <a:t>Experts don’t fully understand what’s going on inside an LLM. Weight can end up being spread across vast distances of a network. While these parameters can be adjusted is not always clear how they work</a:t>
            </a:r>
          </a:p>
          <a:p>
            <a:r>
              <a:rPr lang="en-US" dirty="0"/>
              <a:t>The knowledge base is imperfect and can result in a connection that shows going one way when it could go both ways</a:t>
            </a:r>
          </a:p>
        </p:txBody>
      </p:sp>
      <p:sp>
        <p:nvSpPr>
          <p:cNvPr id="4" name="Slide Number Placeholder 3">
            <a:extLst>
              <a:ext uri="{FF2B5EF4-FFF2-40B4-BE49-F238E27FC236}">
                <a16:creationId xmlns:a16="http://schemas.microsoft.com/office/drawing/2014/main" id="{05E71862-5370-EC84-79C1-DE6E08A6E59D}"/>
              </a:ext>
            </a:extLst>
          </p:cNvPr>
          <p:cNvSpPr>
            <a:spLocks noGrp="1"/>
          </p:cNvSpPr>
          <p:nvPr>
            <p:ph type="sldNum" sz="quarter" idx="12"/>
          </p:nvPr>
        </p:nvSpPr>
        <p:spPr/>
        <p:txBody>
          <a:bodyPr/>
          <a:lstStyle/>
          <a:p>
            <a:fld id="{08AB70BE-1769-45B8-85A6-0C837432C7E6}" type="slidenum">
              <a:rPr lang="en-US" smtClean="0"/>
              <a:pPr/>
              <a:t>4</a:t>
            </a:fld>
            <a:endParaRPr lang="en-US" dirty="0"/>
          </a:p>
        </p:txBody>
      </p:sp>
    </p:spTree>
    <p:extLst>
      <p:ext uri="{BB962C8B-B14F-4D97-AF65-F5344CB8AC3E}">
        <p14:creationId xmlns:p14="http://schemas.microsoft.com/office/powerpoint/2010/main" val="3990765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53204-57BF-C432-444E-B15CA246024A}"/>
              </a:ext>
            </a:extLst>
          </p:cNvPr>
          <p:cNvSpPr>
            <a:spLocks noGrp="1"/>
          </p:cNvSpPr>
          <p:nvPr>
            <p:ph type="title"/>
          </p:nvPr>
        </p:nvSpPr>
        <p:spPr/>
        <p:txBody>
          <a:bodyPr/>
          <a:lstStyle/>
          <a:p>
            <a:r>
              <a:rPr lang="en-US" dirty="0"/>
              <a:t>Creating an assistant</a:t>
            </a:r>
          </a:p>
        </p:txBody>
      </p:sp>
      <p:sp>
        <p:nvSpPr>
          <p:cNvPr id="3" name="Content Placeholder 2">
            <a:extLst>
              <a:ext uri="{FF2B5EF4-FFF2-40B4-BE49-F238E27FC236}">
                <a16:creationId xmlns:a16="http://schemas.microsoft.com/office/drawing/2014/main" id="{3FBC2811-4551-B83A-34B9-16920848B0AE}"/>
              </a:ext>
            </a:extLst>
          </p:cNvPr>
          <p:cNvSpPr>
            <a:spLocks noGrp="1"/>
          </p:cNvSpPr>
          <p:nvPr>
            <p:ph idx="1"/>
          </p:nvPr>
        </p:nvSpPr>
        <p:spPr/>
        <p:txBody>
          <a:bodyPr/>
          <a:lstStyle/>
          <a:p>
            <a:r>
              <a:rPr lang="en-US" dirty="0"/>
              <a:t>Creating an AI assistant involves taking a set of trained parameters and narrowing their training on much more specific topics and data sets.</a:t>
            </a:r>
          </a:p>
          <a:p>
            <a:r>
              <a:rPr lang="en-US" dirty="0"/>
              <a:t>Some responses must be manually corrected during this training process by someone working on the assistant.</a:t>
            </a:r>
          </a:p>
          <a:p>
            <a:r>
              <a:rPr lang="en-US" dirty="0"/>
              <a:t>Generally, the assistant will rely on other tools to make large calculations and do certain types of research such as a calculator and a web browser. (It may even use other AI tools)</a:t>
            </a:r>
          </a:p>
          <a:p>
            <a:pPr marL="0" indent="0">
              <a:buNone/>
            </a:pPr>
            <a:endParaRPr lang="en-US" dirty="0"/>
          </a:p>
        </p:txBody>
      </p:sp>
      <p:sp>
        <p:nvSpPr>
          <p:cNvPr id="4" name="Slide Number Placeholder 3">
            <a:extLst>
              <a:ext uri="{FF2B5EF4-FFF2-40B4-BE49-F238E27FC236}">
                <a16:creationId xmlns:a16="http://schemas.microsoft.com/office/drawing/2014/main" id="{015C9C57-B744-D13F-A3D3-0298BE6CDDCF}"/>
              </a:ext>
            </a:extLst>
          </p:cNvPr>
          <p:cNvSpPr>
            <a:spLocks noGrp="1"/>
          </p:cNvSpPr>
          <p:nvPr>
            <p:ph type="sldNum" sz="quarter" idx="12"/>
          </p:nvPr>
        </p:nvSpPr>
        <p:spPr/>
        <p:txBody>
          <a:bodyPr/>
          <a:lstStyle/>
          <a:p>
            <a:fld id="{08AB70BE-1769-45B8-85A6-0C837432C7E6}" type="slidenum">
              <a:rPr lang="en-US" smtClean="0"/>
              <a:pPr/>
              <a:t>5</a:t>
            </a:fld>
            <a:endParaRPr lang="en-US" dirty="0"/>
          </a:p>
        </p:txBody>
      </p:sp>
    </p:spTree>
    <p:extLst>
      <p:ext uri="{BB962C8B-B14F-4D97-AF65-F5344CB8AC3E}">
        <p14:creationId xmlns:p14="http://schemas.microsoft.com/office/powerpoint/2010/main" val="1735766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97724-B8F2-DFF4-FF93-94538F213CF4}"/>
              </a:ext>
            </a:extLst>
          </p:cNvPr>
          <p:cNvSpPr>
            <a:spLocks noGrp="1"/>
          </p:cNvSpPr>
          <p:nvPr>
            <p:ph type="title"/>
          </p:nvPr>
        </p:nvSpPr>
        <p:spPr/>
        <p:txBody>
          <a:bodyPr/>
          <a:lstStyle/>
          <a:p>
            <a:r>
              <a:rPr lang="en-US" dirty="0"/>
              <a:t>Current Limitations</a:t>
            </a:r>
          </a:p>
        </p:txBody>
      </p:sp>
      <p:sp>
        <p:nvSpPr>
          <p:cNvPr id="3" name="Content Placeholder 2">
            <a:extLst>
              <a:ext uri="{FF2B5EF4-FFF2-40B4-BE49-F238E27FC236}">
                <a16:creationId xmlns:a16="http://schemas.microsoft.com/office/drawing/2014/main" id="{88EABE8D-1705-8EF3-A2B7-93080C83CF5B}"/>
              </a:ext>
            </a:extLst>
          </p:cNvPr>
          <p:cNvSpPr>
            <a:spLocks noGrp="1"/>
          </p:cNvSpPr>
          <p:nvPr>
            <p:ph idx="1"/>
          </p:nvPr>
        </p:nvSpPr>
        <p:spPr/>
        <p:txBody>
          <a:bodyPr/>
          <a:lstStyle/>
          <a:p>
            <a:r>
              <a:rPr lang="en-US" dirty="0"/>
              <a:t>LLM’s only have a system 1 thinking process (It makes quick instinctive decisions and produces limited results because of that. Like laying on the tracks while the train is going.)</a:t>
            </a:r>
          </a:p>
          <a:p>
            <a:r>
              <a:rPr lang="en-US" dirty="0"/>
              <a:t> If a concept or object does not show up in a data set, it is very hard for the model to replicate it.</a:t>
            </a:r>
          </a:p>
          <a:p>
            <a:pPr lvl="1"/>
            <a:r>
              <a:rPr lang="en-US" dirty="0"/>
              <a:t>Unusual ideas or occurrences that aren’t generally recorded like a picture of an overflowing wineglass become harder to replicate because there’s aren’t a lot of pictures of that on the internet.</a:t>
            </a:r>
          </a:p>
        </p:txBody>
      </p:sp>
      <p:sp>
        <p:nvSpPr>
          <p:cNvPr id="4" name="Slide Number Placeholder 3">
            <a:extLst>
              <a:ext uri="{FF2B5EF4-FFF2-40B4-BE49-F238E27FC236}">
                <a16:creationId xmlns:a16="http://schemas.microsoft.com/office/drawing/2014/main" id="{1B9425C9-9199-D5F7-6D21-02B45657D59D}"/>
              </a:ext>
            </a:extLst>
          </p:cNvPr>
          <p:cNvSpPr>
            <a:spLocks noGrp="1"/>
          </p:cNvSpPr>
          <p:nvPr>
            <p:ph type="sldNum" sz="quarter" idx="12"/>
          </p:nvPr>
        </p:nvSpPr>
        <p:spPr/>
        <p:txBody>
          <a:bodyPr/>
          <a:lstStyle/>
          <a:p>
            <a:fld id="{08AB70BE-1769-45B8-85A6-0C837432C7E6}" type="slidenum">
              <a:rPr lang="en-US" smtClean="0"/>
              <a:pPr/>
              <a:t>6</a:t>
            </a:fld>
            <a:endParaRPr lang="en-US" dirty="0"/>
          </a:p>
        </p:txBody>
      </p:sp>
    </p:spTree>
    <p:extLst>
      <p:ext uri="{BB962C8B-B14F-4D97-AF65-F5344CB8AC3E}">
        <p14:creationId xmlns:p14="http://schemas.microsoft.com/office/powerpoint/2010/main" val="3054283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5A923-A564-9657-FA7D-B9010DF65DAC}"/>
              </a:ext>
            </a:extLst>
          </p:cNvPr>
          <p:cNvSpPr>
            <a:spLocks noGrp="1"/>
          </p:cNvSpPr>
          <p:nvPr>
            <p:ph type="title"/>
          </p:nvPr>
        </p:nvSpPr>
        <p:spPr/>
        <p:txBody>
          <a:bodyPr/>
          <a:lstStyle/>
          <a:p>
            <a:r>
              <a:rPr lang="en-US" dirty="0"/>
              <a:t>Comparing models</a:t>
            </a:r>
          </a:p>
        </p:txBody>
      </p:sp>
      <p:sp>
        <p:nvSpPr>
          <p:cNvPr id="3" name="Text Placeholder 2">
            <a:extLst>
              <a:ext uri="{FF2B5EF4-FFF2-40B4-BE49-F238E27FC236}">
                <a16:creationId xmlns:a16="http://schemas.microsoft.com/office/drawing/2014/main" id="{95336F93-1A73-C712-694F-B2B860DBA11E}"/>
              </a:ext>
            </a:extLst>
          </p:cNvPr>
          <p:cNvSpPr>
            <a:spLocks noGrp="1"/>
          </p:cNvSpPr>
          <p:nvPr>
            <p:ph type="body" idx="1"/>
          </p:nvPr>
        </p:nvSpPr>
        <p:spPr/>
        <p:txBody>
          <a:bodyPr/>
          <a:lstStyle/>
          <a:p>
            <a:r>
              <a:rPr lang="en-US" dirty="0"/>
              <a:t>ChatGPT</a:t>
            </a:r>
          </a:p>
        </p:txBody>
      </p:sp>
      <p:sp>
        <p:nvSpPr>
          <p:cNvPr id="4" name="Content Placeholder 3">
            <a:extLst>
              <a:ext uri="{FF2B5EF4-FFF2-40B4-BE49-F238E27FC236}">
                <a16:creationId xmlns:a16="http://schemas.microsoft.com/office/drawing/2014/main" id="{169F0015-6585-758F-0266-ABA7D61DC6FA}"/>
              </a:ext>
            </a:extLst>
          </p:cNvPr>
          <p:cNvSpPr>
            <a:spLocks noGrp="1"/>
          </p:cNvSpPr>
          <p:nvPr>
            <p:ph sz="half" idx="2"/>
          </p:nvPr>
        </p:nvSpPr>
        <p:spPr/>
        <p:txBody>
          <a:bodyPr/>
          <a:lstStyle/>
          <a:p>
            <a:r>
              <a:rPr lang="en-US" dirty="0"/>
              <a:t>Text generation looks very natural and professional(Doesn’t feel like you are talking to a robot)</a:t>
            </a:r>
          </a:p>
          <a:p>
            <a:r>
              <a:rPr lang="en-US" dirty="0"/>
              <a:t>Can give plenty of insights from analyzing data and looking at what the numbers actually means.</a:t>
            </a:r>
          </a:p>
          <a:p>
            <a:r>
              <a:rPr lang="en-US" dirty="0"/>
              <a:t>Very solid fact-checking</a:t>
            </a:r>
          </a:p>
        </p:txBody>
      </p:sp>
      <p:sp>
        <p:nvSpPr>
          <p:cNvPr id="5" name="Text Placeholder 4">
            <a:extLst>
              <a:ext uri="{FF2B5EF4-FFF2-40B4-BE49-F238E27FC236}">
                <a16:creationId xmlns:a16="http://schemas.microsoft.com/office/drawing/2014/main" id="{E83F4F23-7BB1-601E-9CFF-0576D3D06BCD}"/>
              </a:ext>
            </a:extLst>
          </p:cNvPr>
          <p:cNvSpPr>
            <a:spLocks noGrp="1"/>
          </p:cNvSpPr>
          <p:nvPr>
            <p:ph type="body" sz="quarter" idx="3"/>
          </p:nvPr>
        </p:nvSpPr>
        <p:spPr/>
        <p:txBody>
          <a:bodyPr/>
          <a:lstStyle/>
          <a:p>
            <a:r>
              <a:rPr lang="en-US" dirty="0"/>
              <a:t>Gemeni</a:t>
            </a:r>
          </a:p>
        </p:txBody>
      </p:sp>
      <p:sp>
        <p:nvSpPr>
          <p:cNvPr id="6" name="Content Placeholder 5">
            <a:extLst>
              <a:ext uri="{FF2B5EF4-FFF2-40B4-BE49-F238E27FC236}">
                <a16:creationId xmlns:a16="http://schemas.microsoft.com/office/drawing/2014/main" id="{8565AE09-AE52-FDF8-E5AE-4A4CB78FF662}"/>
              </a:ext>
            </a:extLst>
          </p:cNvPr>
          <p:cNvSpPr>
            <a:spLocks noGrp="1"/>
          </p:cNvSpPr>
          <p:nvPr>
            <p:ph sz="quarter" idx="4"/>
          </p:nvPr>
        </p:nvSpPr>
        <p:spPr/>
        <p:txBody>
          <a:bodyPr/>
          <a:lstStyle/>
          <a:p>
            <a:r>
              <a:rPr lang="en-US" dirty="0"/>
              <a:t>Accurate text generation but doesn’t always feel very natural.</a:t>
            </a:r>
          </a:p>
          <a:p>
            <a:r>
              <a:rPr lang="en-US" dirty="0"/>
              <a:t>Surface-level data analysis that just feels like a review.</a:t>
            </a:r>
          </a:p>
          <a:p>
            <a:r>
              <a:rPr lang="en-US" dirty="0"/>
              <a:t>Fact-checking pulled from more and better </a:t>
            </a:r>
            <a:r>
              <a:rPr lang="en-US" dirty="0" err="1"/>
              <a:t>sourses</a:t>
            </a:r>
            <a:r>
              <a:rPr lang="en-US" dirty="0"/>
              <a:t>.</a:t>
            </a:r>
          </a:p>
          <a:p>
            <a:endParaRPr lang="en-US" dirty="0"/>
          </a:p>
        </p:txBody>
      </p:sp>
      <p:sp>
        <p:nvSpPr>
          <p:cNvPr id="7" name="Slide Number Placeholder 6">
            <a:extLst>
              <a:ext uri="{FF2B5EF4-FFF2-40B4-BE49-F238E27FC236}">
                <a16:creationId xmlns:a16="http://schemas.microsoft.com/office/drawing/2014/main" id="{204CA997-5993-F556-4BEE-5DDAE3DC6928}"/>
              </a:ext>
            </a:extLst>
          </p:cNvPr>
          <p:cNvSpPr>
            <a:spLocks noGrp="1"/>
          </p:cNvSpPr>
          <p:nvPr>
            <p:ph type="sldNum" sz="quarter" idx="12"/>
          </p:nvPr>
        </p:nvSpPr>
        <p:spPr/>
        <p:txBody>
          <a:bodyPr/>
          <a:lstStyle/>
          <a:p>
            <a:fld id="{08AB70BE-1769-45B8-85A6-0C837432C7E6}" type="slidenum">
              <a:rPr lang="en-US" smtClean="0"/>
              <a:pPr/>
              <a:t>7</a:t>
            </a:fld>
            <a:endParaRPr lang="en-US" dirty="0"/>
          </a:p>
        </p:txBody>
      </p:sp>
    </p:spTree>
    <p:extLst>
      <p:ext uri="{BB962C8B-B14F-4D97-AF65-F5344CB8AC3E}">
        <p14:creationId xmlns:p14="http://schemas.microsoft.com/office/powerpoint/2010/main" val="1184534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2F0F4-0E4F-568E-A121-0CBF1C9F2FD4}"/>
              </a:ext>
            </a:extLst>
          </p:cNvPr>
          <p:cNvSpPr>
            <a:spLocks noGrp="1"/>
          </p:cNvSpPr>
          <p:nvPr>
            <p:ph type="title"/>
          </p:nvPr>
        </p:nvSpPr>
        <p:spPr/>
        <p:txBody>
          <a:bodyPr/>
          <a:lstStyle/>
          <a:p>
            <a:r>
              <a:rPr lang="en-US" dirty="0"/>
              <a:t>Claude</a:t>
            </a:r>
          </a:p>
        </p:txBody>
      </p:sp>
      <p:sp>
        <p:nvSpPr>
          <p:cNvPr id="3" name="Content Placeholder 2">
            <a:extLst>
              <a:ext uri="{FF2B5EF4-FFF2-40B4-BE49-F238E27FC236}">
                <a16:creationId xmlns:a16="http://schemas.microsoft.com/office/drawing/2014/main" id="{971711C7-9CAC-5919-9892-51374CFFBAD9}"/>
              </a:ext>
            </a:extLst>
          </p:cNvPr>
          <p:cNvSpPr>
            <a:spLocks noGrp="1"/>
          </p:cNvSpPr>
          <p:nvPr>
            <p:ph idx="1"/>
          </p:nvPr>
        </p:nvSpPr>
        <p:spPr/>
        <p:txBody>
          <a:bodyPr/>
          <a:lstStyle/>
          <a:p>
            <a:r>
              <a:rPr lang="en-US" dirty="0"/>
              <a:t>The text is exceptionally well written and clear. Everything feels crafted instead of generated.</a:t>
            </a:r>
          </a:p>
          <a:p>
            <a:r>
              <a:rPr lang="en-US" dirty="0"/>
              <a:t>This model is also very good at giving context and strategic insights from patterns of a given data set with clear reasoning.</a:t>
            </a:r>
          </a:p>
          <a:p>
            <a:r>
              <a:rPr lang="en-US" dirty="0"/>
              <a:t>Facts are presented accurately and with a balance between the clarity of ChatGPT and the stiff language of Gemeni.</a:t>
            </a:r>
          </a:p>
        </p:txBody>
      </p:sp>
      <p:sp>
        <p:nvSpPr>
          <p:cNvPr id="4" name="Slide Number Placeholder 3">
            <a:extLst>
              <a:ext uri="{FF2B5EF4-FFF2-40B4-BE49-F238E27FC236}">
                <a16:creationId xmlns:a16="http://schemas.microsoft.com/office/drawing/2014/main" id="{958AF137-6CC3-54E4-F343-DBE16BB439F8}"/>
              </a:ext>
            </a:extLst>
          </p:cNvPr>
          <p:cNvSpPr>
            <a:spLocks noGrp="1"/>
          </p:cNvSpPr>
          <p:nvPr>
            <p:ph type="sldNum" sz="quarter" idx="12"/>
          </p:nvPr>
        </p:nvSpPr>
        <p:spPr/>
        <p:txBody>
          <a:bodyPr/>
          <a:lstStyle/>
          <a:p>
            <a:fld id="{08AB70BE-1769-45B8-85A6-0C837432C7E6}" type="slidenum">
              <a:rPr lang="en-US" smtClean="0"/>
              <a:pPr/>
              <a:t>8</a:t>
            </a:fld>
            <a:endParaRPr lang="en-US" dirty="0"/>
          </a:p>
        </p:txBody>
      </p:sp>
    </p:spTree>
    <p:extLst>
      <p:ext uri="{BB962C8B-B14F-4D97-AF65-F5344CB8AC3E}">
        <p14:creationId xmlns:p14="http://schemas.microsoft.com/office/powerpoint/2010/main" val="539308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B2261-32F5-E9C6-0DF5-194B5AFE2C7D}"/>
              </a:ext>
            </a:extLst>
          </p:cNvPr>
          <p:cNvSpPr>
            <a:spLocks noGrp="1"/>
          </p:cNvSpPr>
          <p:nvPr>
            <p:ph type="title"/>
          </p:nvPr>
        </p:nvSpPr>
        <p:spPr>
          <a:xfrm>
            <a:off x="914401" y="0"/>
            <a:ext cx="9914859" cy="1329004"/>
          </a:xfrm>
        </p:spPr>
        <p:txBody>
          <a:bodyPr/>
          <a:lstStyle/>
          <a:p>
            <a:r>
              <a:rPr lang="en-US" dirty="0"/>
              <a:t>Concerns with LLM’s</a:t>
            </a:r>
          </a:p>
        </p:txBody>
      </p:sp>
      <p:sp>
        <p:nvSpPr>
          <p:cNvPr id="3" name="Content Placeholder 2">
            <a:extLst>
              <a:ext uri="{FF2B5EF4-FFF2-40B4-BE49-F238E27FC236}">
                <a16:creationId xmlns:a16="http://schemas.microsoft.com/office/drawing/2014/main" id="{D74AA1C3-2CDE-C373-0F96-AB1FF83248A0}"/>
              </a:ext>
            </a:extLst>
          </p:cNvPr>
          <p:cNvSpPr>
            <a:spLocks noGrp="1"/>
          </p:cNvSpPr>
          <p:nvPr>
            <p:ph idx="1"/>
          </p:nvPr>
        </p:nvSpPr>
        <p:spPr>
          <a:xfrm>
            <a:off x="914400" y="857840"/>
            <a:ext cx="9914860" cy="6000160"/>
          </a:xfrm>
        </p:spPr>
        <p:txBody>
          <a:bodyPr>
            <a:normAutofit lnSpcReduction="10000"/>
          </a:bodyPr>
          <a:lstStyle/>
          <a:p>
            <a:r>
              <a:rPr lang="en-US" dirty="0"/>
              <a:t>“Hallucinations”:</a:t>
            </a:r>
          </a:p>
          <a:p>
            <a:pPr lvl="1"/>
            <a:r>
              <a:rPr lang="en-US" dirty="0"/>
              <a:t>A model can end up contradicting itself or the prompt it’s given.</a:t>
            </a:r>
          </a:p>
          <a:p>
            <a:pPr lvl="1"/>
            <a:r>
              <a:rPr lang="en-US" dirty="0"/>
              <a:t>There is also a chance that the output can be false or nonsensical in nature</a:t>
            </a:r>
          </a:p>
          <a:p>
            <a:pPr lvl="1"/>
            <a:r>
              <a:rPr lang="en-US" dirty="0"/>
              <a:t>One reason this tends to happen is because of the quality of the data it’s being given. There is a lot of misinformation online that can end up biasing the models answers regardless of how accurate they are.</a:t>
            </a:r>
          </a:p>
          <a:p>
            <a:pPr lvl="1"/>
            <a:r>
              <a:rPr lang="en-US" dirty="0"/>
              <a:t>Another way that they can be biased is with the actual method of generating the results. Any tool that it uses can have a significant difference in the values that characterize the outcome of a prompt.</a:t>
            </a:r>
          </a:p>
          <a:p>
            <a:pPr marL="227013" lvl="1" indent="-227013"/>
            <a:r>
              <a:rPr lang="en-US" dirty="0"/>
              <a:t>Security concerns:</a:t>
            </a:r>
          </a:p>
          <a:p>
            <a:pPr marL="684213" lvl="2" indent="-227013"/>
            <a:r>
              <a:rPr lang="en-US" dirty="0"/>
              <a:t>Jailbreaks: Users can figure out ways to make the model say certain things and act in certain ways it isn’t meant to through roleplaying, Base64 and other types of unusual prompts.</a:t>
            </a:r>
          </a:p>
          <a:p>
            <a:pPr marL="684213" lvl="2" indent="-227013"/>
            <a:r>
              <a:rPr lang="en-US" dirty="0"/>
              <a:t>Prompt Injection: You can present secret instructions using invisible text in an image or webpage to hijack the model and add something malicious to its response. Even when google set up a new policy to block arbitrary image loading, this can be subverted using “Google Apps Scripts.”</a:t>
            </a:r>
          </a:p>
          <a:p>
            <a:pPr marL="684213" lvl="2" indent="-227013"/>
            <a:r>
              <a:rPr lang="en-US" dirty="0"/>
              <a:t>Data poisoning/Backdoor attack: A “sleeper Agent” can be put into training data to cause the model to react to a trigger phrase that causes it to act out when that trigger is encounter in a prompt. This can even be used to evade threat detection</a:t>
            </a:r>
          </a:p>
        </p:txBody>
      </p:sp>
      <p:sp>
        <p:nvSpPr>
          <p:cNvPr id="4" name="Slide Number Placeholder 3">
            <a:extLst>
              <a:ext uri="{FF2B5EF4-FFF2-40B4-BE49-F238E27FC236}">
                <a16:creationId xmlns:a16="http://schemas.microsoft.com/office/drawing/2014/main" id="{BF222CE0-9E84-E33E-E856-21DA4AB287BA}"/>
              </a:ext>
            </a:extLst>
          </p:cNvPr>
          <p:cNvSpPr>
            <a:spLocks noGrp="1"/>
          </p:cNvSpPr>
          <p:nvPr>
            <p:ph type="sldNum" sz="quarter" idx="12"/>
          </p:nvPr>
        </p:nvSpPr>
        <p:spPr/>
        <p:txBody>
          <a:bodyPr/>
          <a:lstStyle/>
          <a:p>
            <a:fld id="{08AB70BE-1769-45B8-85A6-0C837432C7E6}" type="slidenum">
              <a:rPr lang="en-US" smtClean="0"/>
              <a:pPr/>
              <a:t>9</a:t>
            </a:fld>
            <a:endParaRPr lang="en-US" dirty="0"/>
          </a:p>
        </p:txBody>
      </p:sp>
    </p:spTree>
    <p:extLst>
      <p:ext uri="{BB962C8B-B14F-4D97-AF65-F5344CB8AC3E}">
        <p14:creationId xmlns:p14="http://schemas.microsoft.com/office/powerpoint/2010/main" val="1141835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6832B-A8C3-9780-E207-5ED7B48570BA}"/>
              </a:ext>
            </a:extLst>
          </p:cNvPr>
          <p:cNvSpPr>
            <a:spLocks noGrp="1"/>
          </p:cNvSpPr>
          <p:nvPr>
            <p:ph type="title"/>
          </p:nvPr>
        </p:nvSpPr>
        <p:spPr/>
        <p:txBody>
          <a:bodyPr/>
          <a:lstStyle/>
          <a:p>
            <a:r>
              <a:rPr lang="en-US" dirty="0"/>
              <a:t>Bibliography</a:t>
            </a:r>
          </a:p>
        </p:txBody>
      </p:sp>
      <p:sp>
        <p:nvSpPr>
          <p:cNvPr id="3" name="Content Placeholder 2">
            <a:extLst>
              <a:ext uri="{FF2B5EF4-FFF2-40B4-BE49-F238E27FC236}">
                <a16:creationId xmlns:a16="http://schemas.microsoft.com/office/drawing/2014/main" id="{6F262C02-A5E1-1974-8748-6564185F06DA}"/>
              </a:ext>
            </a:extLst>
          </p:cNvPr>
          <p:cNvSpPr>
            <a:spLocks noGrp="1"/>
          </p:cNvSpPr>
          <p:nvPr>
            <p:ph idx="1"/>
          </p:nvPr>
        </p:nvSpPr>
        <p:spPr>
          <a:xfrm>
            <a:off x="914400" y="1919672"/>
            <a:ext cx="9914860" cy="4938327"/>
          </a:xfrm>
        </p:spPr>
        <p:txBody>
          <a:bodyPr>
            <a:normAutofit fontScale="92500" lnSpcReduction="10000"/>
          </a:bodyPr>
          <a:lstStyle/>
          <a:p>
            <a:r>
              <a:rPr lang="en-US" dirty="0"/>
              <a:t>3Blue1Brown. </a:t>
            </a:r>
            <a:r>
              <a:rPr lang="en-US" i="1" dirty="0"/>
              <a:t>Large Language Models Explained Briefly</a:t>
            </a:r>
            <a:r>
              <a:rPr lang="en-US" dirty="0"/>
              <a:t>. 20 November 2024. Video. 7 December 2025. &lt;https://youtu.be/LPZh9BOjkQs?si=P70SdpqLlgLU_FML&gt;.</a:t>
            </a:r>
          </a:p>
          <a:p>
            <a:r>
              <a:rPr lang="en-US" dirty="0"/>
              <a:t>—. </a:t>
            </a:r>
            <a:r>
              <a:rPr lang="en-US" i="1" dirty="0"/>
              <a:t>Transformers, the tech behind LLMs | Deep Learning Chapter 5</a:t>
            </a:r>
            <a:r>
              <a:rPr lang="en-US" dirty="0"/>
              <a:t>. 1 April 2024. Video. 7 December 2025.</a:t>
            </a:r>
          </a:p>
          <a:p>
            <a:r>
              <a:rPr lang="en-US" dirty="0"/>
              <a:t>IBM Technology. </a:t>
            </a:r>
            <a:r>
              <a:rPr lang="en-US" i="1" dirty="0"/>
              <a:t>Why Large Language Models Hallucinate</a:t>
            </a:r>
            <a:r>
              <a:rPr lang="en-US" dirty="0"/>
              <a:t>. 20 April 2023. Video. 14 December 2025. &lt;https://youtu.be/cfqtFvWOfg0?si=PjRMkUuE68DxVePX&gt;.</a:t>
            </a:r>
          </a:p>
          <a:p>
            <a:r>
              <a:rPr lang="en-US" dirty="0" err="1"/>
              <a:t>Karpathy</a:t>
            </a:r>
            <a:r>
              <a:rPr lang="en-US" dirty="0"/>
              <a:t>, Andrej. </a:t>
            </a:r>
            <a:r>
              <a:rPr lang="en-US" i="1" dirty="0"/>
              <a:t>[1hr Talk] Intro to Large Language Models</a:t>
            </a:r>
            <a:r>
              <a:rPr lang="en-US" dirty="0"/>
              <a:t>. 22 November 2023. Video. 7 December 2025. &lt;https://youtu.be/zjkBMFhNj_g?si=r8Nf7U4q0MMm6Z68&gt;.</a:t>
            </a:r>
          </a:p>
          <a:p>
            <a:r>
              <a:rPr lang="en-US" dirty="0"/>
              <a:t>Master, AI. </a:t>
            </a:r>
            <a:r>
              <a:rPr lang="en-US" i="1" dirty="0"/>
              <a:t>ChatGPT vs Gemini vs Claude: BRUTAL 2025 Test (I Tested All 3)</a:t>
            </a:r>
            <a:r>
              <a:rPr lang="en-US" dirty="0"/>
              <a:t>. 1 November 2025. Video. 14 December 2025. &lt;https://youtu.be/TgjQNNdqFSo?si=gX33lUQ9SMN9u1Py&gt;.</a:t>
            </a:r>
          </a:p>
          <a:p>
            <a:r>
              <a:rPr lang="en-US" dirty="0"/>
              <a:t>O'Conner, Alex. </a:t>
            </a:r>
            <a:r>
              <a:rPr lang="en-US" i="1" dirty="0"/>
              <a:t>Why ChatGPT can't draw a full glass of wine</a:t>
            </a:r>
            <a:r>
              <a:rPr lang="en-US" dirty="0"/>
              <a:t>. 22 2 2025. Video. 14 December 2025. &lt;https://youtu.be/160F8F8mXlo?si=-3VHTcDxHEWZXoZY&gt;.</a:t>
            </a:r>
          </a:p>
          <a:p>
            <a:endParaRPr lang="en-US" dirty="0"/>
          </a:p>
          <a:p>
            <a:endParaRPr lang="en-US" dirty="0"/>
          </a:p>
        </p:txBody>
      </p:sp>
      <p:sp>
        <p:nvSpPr>
          <p:cNvPr id="4" name="Slide Number Placeholder 3">
            <a:extLst>
              <a:ext uri="{FF2B5EF4-FFF2-40B4-BE49-F238E27FC236}">
                <a16:creationId xmlns:a16="http://schemas.microsoft.com/office/drawing/2014/main" id="{2480F83F-4C2F-E43F-EB70-65FF95310CBE}"/>
              </a:ext>
            </a:extLst>
          </p:cNvPr>
          <p:cNvSpPr>
            <a:spLocks noGrp="1"/>
          </p:cNvSpPr>
          <p:nvPr>
            <p:ph type="sldNum" sz="quarter" idx="12"/>
          </p:nvPr>
        </p:nvSpPr>
        <p:spPr/>
        <p:txBody>
          <a:bodyPr/>
          <a:lstStyle/>
          <a:p>
            <a:fld id="{08AB70BE-1769-45B8-85A6-0C837432C7E6}" type="slidenum">
              <a:rPr lang="en-US" smtClean="0"/>
              <a:pPr/>
              <a:t>10</a:t>
            </a:fld>
            <a:endParaRPr lang="en-US" dirty="0"/>
          </a:p>
        </p:txBody>
      </p:sp>
    </p:spTree>
    <p:extLst>
      <p:ext uri="{BB962C8B-B14F-4D97-AF65-F5344CB8AC3E}">
        <p14:creationId xmlns:p14="http://schemas.microsoft.com/office/powerpoint/2010/main" val="3936151438"/>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453AF4-4FB0-4B39-9296-55DED383E9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0D7C3E5-1734-4636-9EC5-AEB06BF1FB20}">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4C5C2001-E626-4890-B405-22B5BD1CB05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{1BE996FE-C7D2-47E9-9B61-10D9579DBFA0}TFce6c19b5-b857-4146-b2d9-33ca01394bc5af92e1a2_win32-293333268dd9</Template>
  <TotalTime>86</TotalTime>
  <Words>1074</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Nova Light</vt:lpstr>
      <vt:lpstr>Calibri</vt:lpstr>
      <vt:lpstr>Elephant</vt:lpstr>
      <vt:lpstr>ModOverlayVTI</vt:lpstr>
      <vt:lpstr>LLM’s and Comparing Model’s</vt:lpstr>
      <vt:lpstr>What is a Large Language Model?</vt:lpstr>
      <vt:lpstr>Contents of an LLM</vt:lpstr>
      <vt:lpstr>Outputs</vt:lpstr>
      <vt:lpstr>Creating an assistant</vt:lpstr>
      <vt:lpstr>Current Limitations</vt:lpstr>
      <vt:lpstr>Comparing models</vt:lpstr>
      <vt:lpstr>Claude</vt:lpstr>
      <vt:lpstr>Concerns with LLM’s</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Lince</dc:creator>
  <cp:lastModifiedBy>Jacob Lince</cp:lastModifiedBy>
  <cp:revision>3</cp:revision>
  <dcterms:created xsi:type="dcterms:W3CDTF">2025-12-07T22:32:09Z</dcterms:created>
  <dcterms:modified xsi:type="dcterms:W3CDTF">2025-12-15T07:08:39Z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